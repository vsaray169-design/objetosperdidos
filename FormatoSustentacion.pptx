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  <p:sldMasterId id="2147483678" r:id="rId3"/>
  </p:sldMasterIdLst>
  <p:notesMasterIdLst>
    <p:notesMasterId r:id="rId23"/>
  </p:notesMasterIdLst>
  <p:sldIdLst>
    <p:sldId id="256" r:id="rId4"/>
    <p:sldId id="257" r:id="rId5"/>
    <p:sldId id="282" r:id="rId6"/>
    <p:sldId id="258" r:id="rId7"/>
    <p:sldId id="283" r:id="rId8"/>
    <p:sldId id="259" r:id="rId9"/>
    <p:sldId id="279" r:id="rId10"/>
    <p:sldId id="273" r:id="rId11"/>
    <p:sldId id="262" r:id="rId12"/>
    <p:sldId id="268" r:id="rId13"/>
    <p:sldId id="266" r:id="rId14"/>
    <p:sldId id="260" r:id="rId15"/>
    <p:sldId id="261" r:id="rId16"/>
    <p:sldId id="263" r:id="rId17"/>
    <p:sldId id="267" r:id="rId18"/>
    <p:sldId id="280" r:id="rId19"/>
    <p:sldId id="269" r:id="rId20"/>
    <p:sldId id="270" r:id="rId21"/>
    <p:sldId id="271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Work Sans" pitchFamily="2" charset="0"/>
      <p:regular r:id="rId28"/>
      <p:bold r:id="rId29"/>
      <p:italic r:id="rId30"/>
      <p:boldItalic r:id="rId31"/>
    </p:embeddedFont>
    <p:embeddedFont>
      <p:font typeface="Work Sans Light" pitchFamily="2" charset="0"/>
      <p:regular r:id="rId32"/>
      <p:bold r:id="rId33"/>
      <p:italic r:id="rId34"/>
      <p:boldItalic r:id="rId35"/>
    </p:embeddedFont>
    <p:embeddedFont>
      <p:font typeface="Work Sans Medium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itj5lBrd+9A1R6wDgptj5EuRWr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33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8.xml"/><Relationship Id="rId34" Type="http://schemas.openxmlformats.org/officeDocument/2006/relationships/font" Target="fonts/font1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8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8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521585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975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1028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B1A08104-7F07-F0B0-D678-244350BC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>
            <a:extLst>
              <a:ext uri="{FF2B5EF4-FFF2-40B4-BE49-F238E27FC236}">
                <a16:creationId xmlns:a16="http://schemas.microsoft.com/office/drawing/2014/main" id="{959A125A-2421-7E9C-ABC3-3F61C832E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2:notes">
            <a:extLst>
              <a:ext uri="{FF2B5EF4-FFF2-40B4-BE49-F238E27FC236}">
                <a16:creationId xmlns:a16="http://schemas.microsoft.com/office/drawing/2014/main" id="{96F3F647-97A8-8495-CA85-EAA56FF84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2:notes">
            <a:extLst>
              <a:ext uri="{FF2B5EF4-FFF2-40B4-BE49-F238E27FC236}">
                <a16:creationId xmlns:a16="http://schemas.microsoft.com/office/drawing/2014/main" id="{6837C0BC-A389-26CE-3C77-2F86DADBE5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4822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1921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46FB1ACE-5244-8146-88ED-911499989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1:notes">
            <a:extLst>
              <a:ext uri="{FF2B5EF4-FFF2-40B4-BE49-F238E27FC236}">
                <a16:creationId xmlns:a16="http://schemas.microsoft.com/office/drawing/2014/main" id="{9081287D-7D6F-8894-1B89-2C150869E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1:notes">
            <a:extLst>
              <a:ext uri="{FF2B5EF4-FFF2-40B4-BE49-F238E27FC236}">
                <a16:creationId xmlns:a16="http://schemas.microsoft.com/office/drawing/2014/main" id="{9118E76D-0977-6ACB-AAE6-684976C04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3866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4666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A7D99E28-D2E2-6A33-17C9-0EFD3AED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0:notes">
            <a:extLst>
              <a:ext uri="{FF2B5EF4-FFF2-40B4-BE49-F238E27FC236}">
                <a16:creationId xmlns:a16="http://schemas.microsoft.com/office/drawing/2014/main" id="{871CC1FB-C51C-CD1D-1F2E-880FE3FA78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00:notes">
            <a:extLst>
              <a:ext uri="{FF2B5EF4-FFF2-40B4-BE49-F238E27FC236}">
                <a16:creationId xmlns:a16="http://schemas.microsoft.com/office/drawing/2014/main" id="{3F15100C-C0F7-112A-33A2-76989EC82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0272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4004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8421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8227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560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395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9552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6079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17616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C0CB96B6-77CC-9DC1-8A26-86FA925FC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6:notes">
            <a:extLst>
              <a:ext uri="{FF2B5EF4-FFF2-40B4-BE49-F238E27FC236}">
                <a16:creationId xmlns:a16="http://schemas.microsoft.com/office/drawing/2014/main" id="{87ED7A08-BE2F-6B93-0FDF-D86605CF3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06:notes">
            <a:extLst>
              <a:ext uri="{FF2B5EF4-FFF2-40B4-BE49-F238E27FC236}">
                <a16:creationId xmlns:a16="http://schemas.microsoft.com/office/drawing/2014/main" id="{530161ED-6612-6284-EB87-A934EA6B5C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36342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8142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155d56c852_0_4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g2155d56c852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6199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8686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7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8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6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7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7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7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7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2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4" name="Google Shape;104;p1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9" name="Google Shape;129;p1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1" name="Google Shape;131;p1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1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7" name="Google Shape;147;p1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8" name="Google Shape;148;p1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1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5" name="Google Shape;155;p1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1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1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27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28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1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1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13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1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1" name="Google Shape;211;p1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1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3" name="Google Shape;213;p1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1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25" name="Google Shape;225;p1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6" name="Google Shape;226;p1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1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3" name="Google Shape;233;p1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1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1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1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" name="Google Shape;92;p1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0" name="Google Shape;180;p1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1" name="Google Shape;181;p1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2" name="Google Shape;182;p1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/>
          <p:nvPr/>
        </p:nvSpPr>
        <p:spPr>
          <a:xfrm>
            <a:off x="995422" y="2551837"/>
            <a:ext cx="10282178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3600" b="1" i="0" u="none" strike="noStrike" cap="none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Nombre del Grupo: </a:t>
            </a:r>
            <a:r>
              <a:rPr lang="es-ES" sz="2800" b="1" i="0" u="none" strike="noStrike" cap="none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DESARROLLO DE APLICACIÓN WEB Y APP PARA LA GESTIÓN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2800" b="1" i="0" u="none" strike="noStrike" cap="none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RECUPERACIÓN DE OBJETOS PERDIDOS EN EL COLEGIO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2800" b="1" i="0" u="none" strike="noStrike" cap="none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TÉCNICO PALERMO IED</a:t>
            </a:r>
            <a:endParaRPr sz="2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 dirty="0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Autores: Sarai Tayn Vargas Martínez</a:t>
            </a:r>
            <a:r>
              <a:rPr lang="es-ES" sz="2000" dirty="0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, Helen Dayana Ramos Casallas.</a:t>
            </a:r>
            <a:endParaRPr lang="es-ES" sz="2000" b="0" i="0" u="none" strike="noStrike" cap="none" dirty="0">
              <a:solidFill>
                <a:srgbClr val="3F3F3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"/>
          <p:cNvSpPr txBox="1"/>
          <p:nvPr/>
        </p:nvSpPr>
        <p:spPr>
          <a:xfrm>
            <a:off x="3502135" y="1314271"/>
            <a:ext cx="462017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ES" sz="72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Contenido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2"/>
          <p:cNvCxnSpPr/>
          <p:nvPr/>
        </p:nvCxnSpPr>
        <p:spPr>
          <a:xfrm>
            <a:off x="4754934" y="2515265"/>
            <a:ext cx="1736203" cy="0"/>
          </a:xfrm>
          <a:prstGeom prst="straightConnector1">
            <a:avLst/>
          </a:prstGeom>
          <a:noFill/>
          <a:ln w="9525" cap="flat" cmpd="sng">
            <a:solidFill>
              <a:srgbClr val="38AA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6" name="Google Shape;266;p2"/>
          <p:cNvSpPr txBox="1"/>
          <p:nvPr/>
        </p:nvSpPr>
        <p:spPr>
          <a:xfrm>
            <a:off x="4011161" y="2738511"/>
            <a:ext cx="3675514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del proyecto.</a:t>
            </a:r>
          </a:p>
          <a:p>
            <a:pPr marL="285750" lvl="1" indent="-285750">
              <a:buSzPts val="16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Work Sans Light"/>
                <a:sym typeface="Work Sans Light"/>
              </a:rPr>
              <a:t>Objetivos específicos.</a:t>
            </a:r>
          </a:p>
          <a:p>
            <a:pPr marL="285750" lvl="1" indent="-285750">
              <a:buSzPts val="16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Work Sans Light"/>
                <a:sym typeface="Work Sans Light"/>
              </a:rPr>
              <a:t>Objetivo general.</a:t>
            </a:r>
          </a:p>
          <a:p>
            <a:pPr marL="285750" lvl="1" indent="-285750">
              <a:buSzPts val="16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Software utilizado.</a:t>
            </a:r>
            <a:endParaRPr lang="es-ES" sz="1600" dirty="0">
              <a:solidFill>
                <a:schemeClr val="dk1"/>
              </a:solidFill>
              <a:latin typeface="Work Sans Light"/>
              <a:sym typeface="Work Sans Light"/>
            </a:endParaRPr>
          </a:p>
          <a:p>
            <a:pPr marL="285750" lvl="1" indent="-285750">
              <a:buSzPts val="16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Work Sans Light"/>
                <a:sym typeface="Work Sans Light"/>
              </a:rPr>
              <a:t>Modelo Canvas</a:t>
            </a:r>
            <a:endParaRPr sz="1600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Work Sans Light"/>
                <a:sym typeface="Work Sans Light"/>
              </a:rPr>
              <a:t>Requerimientos Funcionales.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Reglas de negocio.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Funcionalidades.</a:t>
            </a:r>
          </a:p>
          <a:p>
            <a:pPr marL="285750" indent="-285750">
              <a:buSzPts val="16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Diseño de la base de datos.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Base de datos y modelo entidad de relación.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Herramientas o Software utilizados.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Funcionalidades por mod</a:t>
            </a:r>
            <a:r>
              <a:rPr lang="es-ES" sz="16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ulo.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Demostración de las reglas de negocio.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endParaRPr lang="es-ES" sz="16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endParaRPr sz="16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53521D4B-FD70-272F-D284-92F6F920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">
            <a:extLst>
              <a:ext uri="{FF2B5EF4-FFF2-40B4-BE49-F238E27FC236}">
                <a16:creationId xmlns:a16="http://schemas.microsoft.com/office/drawing/2014/main" id="{10E8E4FF-9BD8-5380-3093-766D46A85DFB}"/>
              </a:ext>
            </a:extLst>
          </p:cNvPr>
          <p:cNvSpPr txBox="1"/>
          <p:nvPr/>
        </p:nvSpPr>
        <p:spPr>
          <a:xfrm>
            <a:off x="2551002" y="296176"/>
            <a:ext cx="7441409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ES" sz="72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TIEMPOS SUGERIDOS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2">
            <a:extLst>
              <a:ext uri="{FF2B5EF4-FFF2-40B4-BE49-F238E27FC236}">
                <a16:creationId xmlns:a16="http://schemas.microsoft.com/office/drawing/2014/main" id="{19E19F10-49AF-5522-4875-02D70AF976A7}"/>
              </a:ext>
            </a:extLst>
          </p:cNvPr>
          <p:cNvCxnSpPr/>
          <p:nvPr/>
        </p:nvCxnSpPr>
        <p:spPr>
          <a:xfrm>
            <a:off x="5227899" y="2649273"/>
            <a:ext cx="1736203" cy="0"/>
          </a:xfrm>
          <a:prstGeom prst="straightConnector1">
            <a:avLst/>
          </a:prstGeom>
          <a:noFill/>
          <a:ln w="9525" cap="flat" cmpd="sng">
            <a:solidFill>
              <a:srgbClr val="38AA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6" name="Google Shape;266;p2">
            <a:extLst>
              <a:ext uri="{FF2B5EF4-FFF2-40B4-BE49-F238E27FC236}">
                <a16:creationId xmlns:a16="http://schemas.microsoft.com/office/drawing/2014/main" id="{75EB1972-D5E1-C117-EAA5-38F0160060D4}"/>
              </a:ext>
            </a:extLst>
          </p:cNvPr>
          <p:cNvSpPr txBox="1"/>
          <p:nvPr/>
        </p:nvSpPr>
        <p:spPr>
          <a:xfrm>
            <a:off x="4168815" y="2906677"/>
            <a:ext cx="4641810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del proyecto: 1 minuto</a:t>
            </a:r>
          </a:p>
          <a:p>
            <a:pPr marL="285750" lvl="1" indent="-285750">
              <a:buSzPts val="1600"/>
              <a:buFont typeface="Arial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Work Sans Light"/>
                <a:sym typeface="Work Sans Light"/>
              </a:rPr>
              <a:t>Objetivos específicos: 1 minuto</a:t>
            </a:r>
          </a:p>
          <a:p>
            <a:pPr marL="285750" lvl="1" indent="-285750">
              <a:buSzPts val="1600"/>
              <a:buFont typeface="Arial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Work Sans Light"/>
                <a:sym typeface="Work Sans Light"/>
              </a:rPr>
              <a:t>Objetivo general: 1 minuto</a:t>
            </a:r>
          </a:p>
          <a:p>
            <a:pPr marL="285750" lvl="1" indent="-285750">
              <a:buSzPts val="1600"/>
              <a:buFont typeface="Arial"/>
              <a:buChar char="•"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Software utilizado: 1 minuto</a:t>
            </a:r>
            <a:endParaRPr lang="es-ES" sz="1600" b="1" dirty="0">
              <a:solidFill>
                <a:schemeClr val="dk1"/>
              </a:solidFill>
              <a:latin typeface="Work Sans Light"/>
              <a:sym typeface="Work Sans Light"/>
            </a:endParaRPr>
          </a:p>
          <a:p>
            <a:pPr marL="285750" lvl="1" indent="-285750">
              <a:buSzPts val="1600"/>
              <a:buFont typeface="Arial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Work Sans Light"/>
                <a:sym typeface="Work Sans Light"/>
              </a:rPr>
              <a:t>Modelo </a:t>
            </a:r>
            <a:r>
              <a:rPr lang="es-ES" sz="1600" b="1" dirty="0" err="1">
                <a:solidFill>
                  <a:schemeClr val="dk1"/>
                </a:solidFill>
                <a:latin typeface="Work Sans Light"/>
                <a:sym typeface="Work Sans Light"/>
              </a:rPr>
              <a:t>Canvas</a:t>
            </a:r>
            <a:r>
              <a:rPr lang="es-ES" sz="1600" b="1" dirty="0">
                <a:solidFill>
                  <a:schemeClr val="dk1"/>
                </a:solidFill>
                <a:latin typeface="Work Sans Light"/>
                <a:sym typeface="Work Sans Light"/>
              </a:rPr>
              <a:t>: 3 minutos </a:t>
            </a:r>
            <a:endParaRPr lang="es-ES" sz="1600" b="1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Work Sans Light"/>
                <a:sym typeface="Work Sans Light"/>
              </a:rPr>
              <a:t>Requerimientos Funcionales: 3 minutos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Reglas de negocio: 1 minuto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Funcionalidades: 1 minuto </a:t>
            </a:r>
          </a:p>
          <a:p>
            <a:pPr marL="285750" indent="-285750">
              <a:buSzPts val="1600"/>
              <a:buFont typeface="Arial"/>
              <a:buChar char="•"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Diseño de la base de datos: 2 minutos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Base de datos y modelo entidad de relación: 3 minutos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Herramientas o Software utilizados: 2 minutos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Funcionalidades por mod</a:t>
            </a:r>
            <a:r>
              <a:rPr lang="es-ES" sz="1600" b="1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ulo: 2 minutos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Demostración de las reglas de negocio: 7 minutos</a:t>
            </a:r>
          </a:p>
          <a:p>
            <a:endParaRPr lang="es-CO" sz="1600" dirty="0">
              <a:latin typeface="Work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043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7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ES" sz="4400" b="0" i="0" u="none" strike="noStrike" cap="none" dirty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 del Proyecto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 dirty="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90492C-1230-4F3B-BD2B-9499159C913B}"/>
              </a:ext>
            </a:extLst>
          </p:cNvPr>
          <p:cNvSpPr txBox="1"/>
          <p:nvPr/>
        </p:nvSpPr>
        <p:spPr>
          <a:xfrm>
            <a:off x="1104900" y="2628779"/>
            <a:ext cx="98669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/>
              <a:t>Mejorar la gestión de los objetos perdidos y encontrados mediante una plataforma web que ayude a mantener el orden y fomente la responsabilidad y honestidad de los estudiantes.</a:t>
            </a:r>
            <a:endParaRPr lang="es-CO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638B0C95-AC63-A5AE-B820-3902A48D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1">
            <a:extLst>
              <a:ext uri="{FF2B5EF4-FFF2-40B4-BE49-F238E27FC236}">
                <a16:creationId xmlns:a16="http://schemas.microsoft.com/office/drawing/2014/main" id="{1CEDAEAE-9ADB-674E-BB62-F21C85CE196E}"/>
              </a:ext>
            </a:extLst>
          </p:cNvPr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FFFFFF"/>
              </a:buClr>
              <a:buSzPts val="4400"/>
            </a:pPr>
            <a:r>
              <a:rPr lang="es-ES" sz="4400" b="0" i="0" u="none" strike="noStrike" cap="none" dirty="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Objetivos específicos</a:t>
            </a:r>
            <a:endParaRPr lang="es-ES" sz="4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EBDC714-828D-4540-8619-C809EACEFFA9}"/>
              </a:ext>
            </a:extLst>
          </p:cNvPr>
          <p:cNvSpPr txBox="1"/>
          <p:nvPr/>
        </p:nvSpPr>
        <p:spPr>
          <a:xfrm>
            <a:off x="761037" y="1635919"/>
            <a:ext cx="1104043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❖ Recolectar información sobre los objetos perdidos mediante encuestas y observación.</a:t>
            </a:r>
          </a:p>
          <a:p>
            <a:r>
              <a:rPr lang="es-ES" sz="2400" dirty="0"/>
              <a:t>❖ Analizar los requisitos necesarios para desarrollar la plataforma web con código QR.</a:t>
            </a:r>
          </a:p>
          <a:p>
            <a:r>
              <a:rPr lang="es-ES" sz="2400" dirty="0"/>
              <a:t>❖ Diseñar los diagramas y la base de datos del sistema.</a:t>
            </a:r>
          </a:p>
          <a:p>
            <a:r>
              <a:rPr lang="es-ES" sz="2400" dirty="0"/>
              <a:t>❖ Desarrollar la plataforma para registrar y gestionar objetos perdidos y encontrados.</a:t>
            </a:r>
          </a:p>
          <a:p>
            <a:r>
              <a:rPr lang="es-ES" sz="2400" dirty="0"/>
              <a:t>❖ Realizar pruebas para verificar el funcionamiento y facilidad de uso de la plataforma.</a:t>
            </a:r>
          </a:p>
          <a:p>
            <a:r>
              <a:rPr lang="es-ES" sz="2400" dirty="0"/>
              <a:t>❖ Implementar la plataforma en el Colegio Técnico Palermo para facilitar la recuperación de objetos perdidos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2182251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8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 general</a:t>
            </a:r>
            <a:endParaRPr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75A43CB-A5A3-4667-B282-F5ECED8B8AAE}"/>
              </a:ext>
            </a:extLst>
          </p:cNvPr>
          <p:cNvSpPr txBox="1"/>
          <p:nvPr/>
        </p:nvSpPr>
        <p:spPr>
          <a:xfrm rot="10800000" flipV="1">
            <a:off x="866775" y="2667000"/>
            <a:ext cx="89058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/>
              <a:t>Crear una plataforma web que facilite encontrar y recuperar objetos perdidos, promoviendo la honestidad, el orden y la organización en el Colegio Técnico Palermo.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>
          <a:extLst>
            <a:ext uri="{FF2B5EF4-FFF2-40B4-BE49-F238E27FC236}">
              <a16:creationId xmlns:a16="http://schemas.microsoft.com/office/drawing/2014/main" id="{74AB46B8-7653-2E6F-EA82-602093F49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0">
            <a:extLst>
              <a:ext uri="{FF2B5EF4-FFF2-40B4-BE49-F238E27FC236}">
                <a16:creationId xmlns:a16="http://schemas.microsoft.com/office/drawing/2014/main" id="{048A240C-C26C-E4DD-F458-9A1DC19B33AC}"/>
              </a:ext>
            </a:extLst>
          </p:cNvPr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ES" sz="4000" b="0" i="0" u="none" strike="noStrike" cap="none" dirty="0">
                <a:solidFill>
                  <a:schemeClr val="tx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Herramientas y/o software utilizado</a:t>
            </a:r>
            <a:endParaRPr lang="es-ES" sz="4000" dirty="0">
              <a:solidFill>
                <a:schemeClr val="tx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212F9C-6F44-49E8-A0AE-1ED259D89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25" y="1495376"/>
            <a:ext cx="1634610" cy="141927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FEE7DB5-1EA6-46FC-8DD0-E8D42FBDF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6132" y="4457748"/>
            <a:ext cx="2981408" cy="16457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6B07944-3A0C-4655-A5F2-1B104070E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1167" y="1102937"/>
            <a:ext cx="1905963" cy="181171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F8EE9A-F637-4A91-8BD3-48C48484A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1215" y="3088577"/>
            <a:ext cx="2979610" cy="145741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C552B30-6734-4D0D-BFA2-E92F9815B9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293" y="4868905"/>
            <a:ext cx="2804448" cy="18906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D6EB54E-C340-4589-A7CD-928A8BDE9C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7508" y="3503051"/>
            <a:ext cx="1634611" cy="145947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E1F293E-AB43-42AA-BED7-9E760D8FCA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9476" y="4719923"/>
            <a:ext cx="1912667" cy="130654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2A886C5-75D7-4E03-ADA7-9D69FC5230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5419" y="1308249"/>
            <a:ext cx="1905963" cy="186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56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8"/>
          <p:cNvSpPr txBox="1"/>
          <p:nvPr/>
        </p:nvSpPr>
        <p:spPr>
          <a:xfrm>
            <a:off x="94286" y="122387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CO" sz="4400" b="0" i="0" u="none" strike="noStrike" cap="none" dirty="0">
                <a:solidFill>
                  <a:schemeClr val="tx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Modelo Canvas</a:t>
            </a:r>
            <a:endParaRPr lang="es-CO" sz="4400" dirty="0">
              <a:solidFill>
                <a:schemeClr val="tx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BF2C468-9A83-4BC2-AD44-0F65D4DE2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6" y="1130411"/>
            <a:ext cx="10992814" cy="572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69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1"/>
          <p:cNvSpPr txBox="1"/>
          <p:nvPr/>
        </p:nvSpPr>
        <p:spPr>
          <a:xfrm>
            <a:off x="0" y="83314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CO" sz="4400" dirty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</a:t>
            </a:r>
            <a:r>
              <a:rPr lang="es-ES" sz="4400" dirty="0" err="1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equerimientos</a:t>
            </a:r>
            <a:r>
              <a:rPr lang="es-ES" sz="4400" dirty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Funcionales</a:t>
            </a:r>
            <a:endParaRPr sz="4400" b="0" i="0" u="none" strike="noStrike" cap="none" dirty="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463AD5-4070-4377-AB8C-78AF1C1C5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7" y="739152"/>
            <a:ext cx="5031357" cy="611884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6E9255E-D02A-4BAC-BCFB-34FE3C6AD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739152"/>
            <a:ext cx="5031357" cy="61188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7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ES" sz="4400" b="0" i="0" u="none" strike="noStrike" cap="none" dirty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Reglas del negocio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 dirty="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995C76F-F23B-4567-9AA3-A1159F511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237" y="1932191"/>
            <a:ext cx="1051559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exclusivo institucional: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Solo pueden usar la plataforma miembros del colegio (estudiantes, profesores, aseadores y porteros); personas externas están prohibidas.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 reales y obligatorios: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indispensable registrarse e iniciar sesión con información correcta; datos inventados o erróneos serán denegados por el sistema.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Requisito para reportar: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Nadie puede reportar un objeto perdido o encontrado sin haber iniciado sesión previamente.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5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18BB7C-2A15-4D98-A604-08DDBDA83CFF}"/>
              </a:ext>
            </a:extLst>
          </p:cNvPr>
          <p:cNvSpPr txBox="1"/>
          <p:nvPr/>
        </p:nvSpPr>
        <p:spPr>
          <a:xfrm>
            <a:off x="1000124" y="1850677"/>
            <a:ext cx="90582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La aplicación permite a los usuarios registrarse o iniciar sesión con su teléfono y Gmail para acceder a dos botones principales: registro de objetos perdidos y encontrados. El sistema autocompleta los datos personales del usuario, por lo que solo se deben ingresar los detalles del objeto, el lugar y la fecha para enviar el reporte y guardarlo automáticamente en la base de datos al cerrar sesión.</a:t>
            </a:r>
            <a:endParaRPr lang="es-CO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9"/>
          <p:cNvSpPr txBox="1"/>
          <p:nvPr/>
        </p:nvSpPr>
        <p:spPr>
          <a:xfrm>
            <a:off x="0" y="0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ES" sz="4400" b="0" i="0" u="none" strike="noStrike" cap="none" dirty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Diseño de la base de datos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 dirty="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7512BB-7CAE-43B8-9B83-AF00A0F3C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55914"/>
            <a:ext cx="12192000" cy="56020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0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000" b="0" i="0" u="none" strike="noStrike" cap="none" dirty="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Base de datos – Modelo Entidad Relación</a:t>
            </a:r>
            <a:endParaRPr sz="4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CA9786-6613-4B19-9FFA-D546AD414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01" y="1200996"/>
            <a:ext cx="10313998" cy="55312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2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 dirty="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Herramientas y/o software utilizado</a:t>
            </a:r>
            <a:endParaRPr dirty="0"/>
          </a:p>
        </p:txBody>
      </p:sp>
      <p:sp>
        <p:nvSpPr>
          <p:cNvPr id="299" name="Google Shape;299;p102"/>
          <p:cNvSpPr/>
          <p:nvPr/>
        </p:nvSpPr>
        <p:spPr>
          <a:xfrm>
            <a:off x="678000" y="1631424"/>
            <a:ext cx="9762299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" sz="2000" b="1" dirty="0"/>
              <a:t>Sistema Operativo: </a:t>
            </a:r>
            <a:r>
              <a:rPr lang="es-CO" sz="2000" dirty="0"/>
              <a:t>Windows 10 / Windows 11</a:t>
            </a:r>
            <a:r>
              <a:rPr lang="es-ES" sz="2000" dirty="0"/>
              <a:t> </a:t>
            </a:r>
          </a:p>
          <a:p>
            <a:pPr lvl="1"/>
            <a:endParaRPr lang="es-ES" sz="2000" dirty="0"/>
          </a:p>
          <a:p>
            <a:r>
              <a:rPr lang="es-ES" sz="2000" b="1" dirty="0"/>
              <a:t>Servidor Web:</a:t>
            </a:r>
            <a:r>
              <a:rPr lang="es-CO" sz="2000" dirty="0"/>
              <a:t>Apache (incluido en XAMPP)</a:t>
            </a:r>
            <a:endParaRPr lang="es-ES" sz="2000" dirty="0"/>
          </a:p>
          <a:p>
            <a:pPr lvl="1"/>
            <a:r>
              <a:rPr lang="es-ES" sz="2000" dirty="0"/>
              <a:t> </a:t>
            </a:r>
          </a:p>
          <a:p>
            <a:pPr lvl="1"/>
            <a:endParaRPr lang="es-ES" sz="2000" dirty="0"/>
          </a:p>
          <a:p>
            <a:r>
              <a:rPr lang="es-ES" sz="2000" b="1" dirty="0"/>
              <a:t>Gestor de Base de Datos:</a:t>
            </a:r>
            <a:r>
              <a:rPr lang="pt-BR" sz="2000" dirty="0"/>
              <a:t>MySQL / </a:t>
            </a:r>
            <a:r>
              <a:rPr lang="pt-BR" sz="2000" dirty="0" err="1"/>
              <a:t>MariaDB</a:t>
            </a:r>
            <a:r>
              <a:rPr lang="pt-BR" sz="2000" dirty="0"/>
              <a:t> (administrado mediante </a:t>
            </a:r>
            <a:r>
              <a:rPr lang="pt-BR" sz="2000" dirty="0" err="1"/>
              <a:t>phpMyAdmin</a:t>
            </a:r>
            <a:r>
              <a:rPr lang="pt-BR" sz="2000" dirty="0"/>
              <a:t>) </a:t>
            </a:r>
            <a:endParaRPr lang="es-ES" sz="2000" b="1" dirty="0"/>
          </a:p>
          <a:p>
            <a:pPr lvl="1"/>
            <a:r>
              <a:rPr lang="es-ES" sz="2000" dirty="0"/>
              <a:t> </a:t>
            </a:r>
          </a:p>
          <a:p>
            <a:pPr lvl="1"/>
            <a:endParaRPr lang="es-ES" sz="2000" dirty="0"/>
          </a:p>
          <a:p>
            <a:r>
              <a:rPr lang="es-ES" sz="2000" b="1" dirty="0"/>
              <a:t>Entorno de Desarrollo:</a:t>
            </a:r>
            <a:r>
              <a:rPr lang="es-CO" sz="2000" dirty="0"/>
              <a:t>Visual Studio </a:t>
            </a:r>
            <a:r>
              <a:rPr lang="es-CO" sz="2000" dirty="0" err="1"/>
              <a:t>Code</a:t>
            </a:r>
            <a:r>
              <a:rPr lang="es-CO" sz="2000" dirty="0"/>
              <a:t> / XAMPP</a:t>
            </a:r>
            <a:endParaRPr lang="es-ES" sz="2000" dirty="0"/>
          </a:p>
          <a:p>
            <a:pPr lvl="1"/>
            <a:endParaRPr lang="es-ES" sz="2000" dirty="0"/>
          </a:p>
          <a:p>
            <a:r>
              <a:rPr lang="es-ES" sz="2000" b="1" dirty="0"/>
              <a:t>Lenguajes de Programación – Back </a:t>
            </a:r>
            <a:r>
              <a:rPr lang="es-ES" sz="2000" b="1" dirty="0" err="1"/>
              <a:t>End</a:t>
            </a:r>
            <a:r>
              <a:rPr lang="es-ES" sz="2000" b="1" dirty="0"/>
              <a:t> y Front </a:t>
            </a:r>
            <a:r>
              <a:rPr lang="es-ES" sz="2000" b="1" dirty="0" err="1"/>
              <a:t>End</a:t>
            </a:r>
            <a:r>
              <a:rPr lang="es-ES" sz="2000" b="1" dirty="0"/>
              <a:t>: </a:t>
            </a:r>
          </a:p>
          <a:p>
            <a:r>
              <a:rPr lang="es-ES" sz="2000" b="1" dirty="0"/>
              <a:t>Front </a:t>
            </a:r>
            <a:r>
              <a:rPr lang="es-ES" sz="2000" b="1" dirty="0" err="1"/>
              <a:t>End</a:t>
            </a:r>
            <a:r>
              <a:rPr lang="es-ES" sz="2000" b="1" dirty="0"/>
              <a:t>: </a:t>
            </a:r>
            <a:r>
              <a:rPr lang="es-CO" sz="2000" dirty="0"/>
              <a:t>HTML, CSS, JavaScript</a:t>
            </a:r>
            <a:endParaRPr lang="es-ES" sz="2000" b="1" dirty="0"/>
          </a:p>
          <a:p>
            <a:r>
              <a:rPr lang="es-ES" sz="2000" b="1" dirty="0"/>
              <a:t>Back </a:t>
            </a:r>
            <a:r>
              <a:rPr lang="es-ES" sz="2000" b="1" dirty="0" err="1"/>
              <a:t>End</a:t>
            </a:r>
            <a:r>
              <a:rPr lang="es-ES" sz="2000" b="1" dirty="0"/>
              <a:t>:  </a:t>
            </a:r>
            <a:r>
              <a:rPr lang="es-CO" sz="2000" dirty="0"/>
              <a:t>PHP, SQL</a:t>
            </a:r>
          </a:p>
          <a:p>
            <a:endParaRPr lang="es-ES" sz="2000" b="1" dirty="0"/>
          </a:p>
          <a:p>
            <a:r>
              <a:rPr lang="es-ES" sz="2000" b="1" dirty="0"/>
              <a:t>Otros: </a:t>
            </a:r>
            <a:r>
              <a:rPr lang="pt-BR" sz="2000" dirty="0"/>
              <a:t>Google Chrome (Navegador web), Draw.io (para diagramas)</a:t>
            </a:r>
            <a:endParaRPr lang="es-ES" sz="2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6"/>
          <p:cNvSpPr txBox="1"/>
          <p:nvPr/>
        </p:nvSpPr>
        <p:spPr>
          <a:xfrm>
            <a:off x="94286" y="1148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 dirty="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 por módulo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51F696-06FB-4C4B-9583-6DBCA5E3D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14" y="1609402"/>
            <a:ext cx="118110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Módulo de Autenticación: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Permite registrarse o iniciar sesión con teléfono y Gmail.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Módulo Menú Principal: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Muestra los accesos directos para objetos perdidos y encontrados.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Módulo de Reportes: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Autocompleta los datos del usuario y permite agregar los detalles del objeto, lugar y fecha.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Módulo de Base de Datos: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Guarda automáticamente la información al enviar el reporte y cerrar sesión.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9">
          <a:extLst>
            <a:ext uri="{FF2B5EF4-FFF2-40B4-BE49-F238E27FC236}">
              <a16:creationId xmlns:a16="http://schemas.microsoft.com/office/drawing/2014/main" id="{F49B4B68-6AED-EA88-DD46-3EB196505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6">
            <a:extLst>
              <a:ext uri="{FF2B5EF4-FFF2-40B4-BE49-F238E27FC236}">
                <a16:creationId xmlns:a16="http://schemas.microsoft.com/office/drawing/2014/main" id="{EE36C957-717B-B3C9-AD9E-8220D23A3C09}"/>
              </a:ext>
            </a:extLst>
          </p:cNvPr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 por módulo</a:t>
            </a:r>
            <a:endParaRPr/>
          </a:p>
        </p:txBody>
      </p:sp>
      <p:sp>
        <p:nvSpPr>
          <p:cNvPr id="321" name="Google Shape;321;p106">
            <a:extLst>
              <a:ext uri="{FF2B5EF4-FFF2-40B4-BE49-F238E27FC236}">
                <a16:creationId xmlns:a16="http://schemas.microsoft.com/office/drawing/2014/main" id="{7F614EA0-D485-D425-0DB7-8F00CA1D6D05}"/>
              </a:ext>
            </a:extLst>
          </p:cNvPr>
          <p:cNvSpPr/>
          <p:nvPr/>
        </p:nvSpPr>
        <p:spPr>
          <a:xfrm>
            <a:off x="744675" y="1536174"/>
            <a:ext cx="976229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dirty="0">
                <a:latin typeface="+mj-lt"/>
              </a:rPr>
              <a:t>El proyecto </a:t>
            </a:r>
            <a:r>
              <a:rPr lang="es-ES" b="1" dirty="0" err="1">
                <a:latin typeface="+mj-lt"/>
              </a:rPr>
              <a:t>xxx</a:t>
            </a:r>
            <a:r>
              <a:rPr lang="es-ES" dirty="0">
                <a:latin typeface="+mj-lt"/>
              </a:rPr>
              <a:t> busca digitalizar las ventas de la empresa “Productos para el aseo D.R</a:t>
            </a:r>
            <a:r>
              <a:rPr lang="es-ES" i="1" dirty="0">
                <a:latin typeface="+mj-lt"/>
              </a:rPr>
              <a:t>.”</a:t>
            </a:r>
            <a:r>
              <a:rPr lang="es-ES" dirty="0">
                <a:latin typeface="+mj-lt"/>
              </a:rPr>
              <a:t>, creando una plataforma de e-</a:t>
            </a:r>
            <a:r>
              <a:rPr lang="es-ES" dirty="0" err="1">
                <a:latin typeface="+mj-lt"/>
              </a:rPr>
              <a:t>commerce</a:t>
            </a:r>
            <a:r>
              <a:rPr lang="es-ES" dirty="0">
                <a:latin typeface="+mj-lt"/>
              </a:rPr>
              <a:t> que facilite la gestión de inventario, pedidos y pagos. Con esta solución, la empresa amplía su alcance en Bogotá y mejora la experiencia de compra de sus cliente</a:t>
            </a:r>
          </a:p>
          <a:p>
            <a:pPr lvl="0"/>
            <a:r>
              <a:rPr lang="es-ES" b="0" i="0" u="none" strike="noStrike" cap="none" dirty="0">
                <a:solidFill>
                  <a:srgbClr val="000000"/>
                </a:solidFill>
                <a:latin typeface="+mj-lt"/>
                <a:ea typeface="Work Sans Light"/>
                <a:cs typeface="Work Sans Light"/>
                <a:sym typeface="Work Sans Light"/>
              </a:rPr>
              <a:t>Un ejemplo de es: </a:t>
            </a:r>
            <a:r>
              <a:rPr lang="es-CO" dirty="0"/>
              <a:t>cliente entra → ve catálogo → agrega al carrito → confirma pedido → paga → pedido registrado</a:t>
            </a:r>
            <a:endParaRPr b="0" i="0" u="none" strike="noStrike" cap="none" dirty="0">
              <a:solidFill>
                <a:srgbClr val="000000"/>
              </a:solidFill>
              <a:latin typeface="+mj-l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FE310F-5DAD-D150-CC2C-46C797269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75" y="3057994"/>
            <a:ext cx="10677830" cy="311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997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8"/>
          <p:cNvSpPr txBox="1"/>
          <p:nvPr/>
        </p:nvSpPr>
        <p:spPr>
          <a:xfrm>
            <a:off x="0" y="0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 dirty="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Demostración de las reglas del negocio</a:t>
            </a:r>
            <a:endParaRPr sz="4400" b="0" i="0" u="none" strike="noStrike" cap="none" dirty="0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36" name="Google Shape;336;p108"/>
          <p:cNvSpPr/>
          <p:nvPr/>
        </p:nvSpPr>
        <p:spPr>
          <a:xfrm>
            <a:off x="744675" y="1536174"/>
            <a:ext cx="976229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r>
              <a:rPr lang="es-ES" dirty="0"/>
              <a:t> </a:t>
            </a:r>
            <a:endParaRPr lang="es-CO" dirty="0"/>
          </a:p>
          <a:p>
            <a:r>
              <a:rPr lang="es-CO" dirty="0"/>
              <a:t> 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02CF9E-BE9E-4BEC-BFB7-21A140D79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8" y="1197192"/>
            <a:ext cx="3827367" cy="55465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D28CDC0-3682-4541-8BCA-16281C41B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775" y="1197192"/>
            <a:ext cx="3651284" cy="566080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1DECAE8-989E-448B-8159-E6E16E86D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059" y="1197192"/>
            <a:ext cx="4665372" cy="56608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g2155d56c852_0_468" descr="Imagen que contiene 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9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Preguntas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Tiempo: Máximo 5 min.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748</Words>
  <Application>Microsoft Office PowerPoint</Application>
  <PresentationFormat>Panorámica</PresentationFormat>
  <Paragraphs>92</Paragraphs>
  <Slides>19</Slides>
  <Notes>19</Notes>
  <HiddenSlides>2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Work Sans Medium</vt:lpstr>
      <vt:lpstr>Work Sans</vt:lpstr>
      <vt:lpstr>Arial</vt:lpstr>
      <vt:lpstr>Calibri</vt:lpstr>
      <vt:lpstr>Work Sans Light</vt:lpstr>
      <vt:lpstr>Tema de Office</vt:lpstr>
      <vt:lpstr>1_Tema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vsaray169@gmail.com</cp:lastModifiedBy>
  <cp:revision>32</cp:revision>
  <dcterms:created xsi:type="dcterms:W3CDTF">2020-10-01T23:51:28Z</dcterms:created>
  <dcterms:modified xsi:type="dcterms:W3CDTF">2026-09-28T17:47:48Z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